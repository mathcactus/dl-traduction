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83D2D4-914A-4011-9CD4-7296B232D9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83711-D980-4DD2-91C2-4366D3521B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ECC7B-95AC-4C5F-90E4-6C9E4AA504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8801C1-B576-44D5-96EA-E3711605FA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0350C7-327C-4497-837B-CB39F17138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60FB52-F82E-4C12-B7E2-92B0CECF0F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1566C6-03BB-461E-9AF6-C7986DA1BD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ABD6C-1ACF-472C-98F9-41762B8472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897F5C-BF3E-4A44-AA70-D7CF63F5AD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74CDEF-8E38-4E92-AADF-26E185287C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33FFDC-8930-4519-BE23-4FC58F87C2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CF732-15B2-45E3-9B9B-B9E51F1897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81F3C51-91A3-43CD-BE9C-F94F74B5A910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file:///home/math/Programmes/Projets/TRADL/test_trad.mp4" TargetMode="External"/><Relationship Id="rId2" Type="http://schemas.microsoft.com/office/2007/relationships/media" Target="file:///home/math/Programmes/Projets/TRADL/test_trad.mp4" TargetMode="External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Projet Deeplearning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2000" spc="-1" strike="noStrike">
                <a:latin typeface="Arial"/>
              </a:rPr>
              <a:t>Problématique :</a:t>
            </a:r>
            <a:endParaRPr b="0" lang="fr-FR" sz="2000" spc="-1" strike="noStrike">
              <a:latin typeface="Arial"/>
            </a:endParaRPr>
          </a:p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pPr algn="ctr">
              <a:buNone/>
            </a:pPr>
            <a:r>
              <a:rPr b="0" lang="fr-FR" sz="2000" spc="-1" strike="noStrike">
                <a:latin typeface="Arial"/>
              </a:rPr>
              <a:t>"Comment traduire automatiquement des vidéos francophones en plusieurs</a:t>
            </a:r>
            <a:endParaRPr b="0" lang="fr-FR" sz="2000" spc="-1" strike="noStrike">
              <a:latin typeface="Arial"/>
            </a:endParaRPr>
          </a:p>
          <a:p>
            <a:pPr algn="ctr">
              <a:buNone/>
            </a:pPr>
            <a:r>
              <a:rPr b="0" lang="fr-FR" sz="2000" spc="-1" strike="noStrike">
                <a:latin typeface="Arial"/>
              </a:rPr>
              <a:t>langues en combinant transcription automatique (ASR) et traduction neuronale (NMT), et quelles</a:t>
            </a:r>
            <a:endParaRPr b="0" lang="fr-FR" sz="2000" spc="-1" strike="noStrike">
              <a:latin typeface="Arial"/>
            </a:endParaRPr>
          </a:p>
          <a:p>
            <a:pPr algn="ctr">
              <a:buNone/>
            </a:pPr>
            <a:r>
              <a:rPr b="0" lang="fr-FR" sz="2000" spc="-1" strike="noStrike">
                <a:latin typeface="Arial"/>
              </a:rPr>
              <a:t>architectures Deep Learning offrent le meilleur compromis qualité/robustesse/coût ?"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ASR 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540000" y="1876320"/>
            <a:ext cx="907164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fr-FR" sz="2000" spc="-1" strike="noStrike">
                <a:latin typeface="Arial"/>
              </a:rPr>
              <a:t>Automatic Speech Recognition</a:t>
            </a:r>
            <a:endParaRPr b="0" lang="fr-FR" sz="2000" spc="-1" strike="noStrike">
              <a:latin typeface="Arial"/>
              <a:ea typeface="Noto Sans CJK SC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892080" y="3112560"/>
            <a:ext cx="1627920" cy="120744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808920" y="2432520"/>
            <a:ext cx="8191080" cy="44748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5400000" y="3190320"/>
            <a:ext cx="1357920" cy="13579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D738D-CE48-4BB6-B44F-C7157B5D496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ASR</a:t>
            </a:r>
            <a:endParaRPr b="1" lang="fr-FR" sz="4400" spc="-1" strike="noStrike"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097280" y="1980000"/>
            <a:ext cx="1422720" cy="142272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2880000" y="2160000"/>
            <a:ext cx="1800000" cy="108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51" name="" descr=""/>
          <p:cNvPicPr/>
          <p:nvPr/>
        </p:nvPicPr>
        <p:blipFill>
          <a:blip r:embed="rId2"/>
          <a:stretch/>
        </p:blipFill>
        <p:spPr>
          <a:xfrm>
            <a:off x="4860000" y="1725840"/>
            <a:ext cx="4622040" cy="2234160"/>
          </a:xfrm>
          <a:prstGeom prst="rect">
            <a:avLst/>
          </a:prstGeom>
          <a:ln w="0">
            <a:noFill/>
          </a:ln>
        </p:spPr>
      </p:pic>
      <p:pic>
        <p:nvPicPr>
          <p:cNvPr id="52" name="" descr=""/>
          <p:cNvPicPr/>
          <p:nvPr/>
        </p:nvPicPr>
        <p:blipFill>
          <a:blip r:embed="rId3"/>
          <a:stretch/>
        </p:blipFill>
        <p:spPr>
          <a:xfrm>
            <a:off x="3240000" y="1342080"/>
            <a:ext cx="997920" cy="997920"/>
          </a:xfrm>
          <a:prstGeom prst="rect">
            <a:avLst/>
          </a:prstGeom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4"/>
          <a:stretch/>
        </p:blipFill>
        <p:spPr>
          <a:xfrm>
            <a:off x="4860000" y="4140000"/>
            <a:ext cx="2340000" cy="642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1F55D-3835-40EC-A97E-0A03E040866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DATA</a:t>
            </a:r>
            <a:endParaRPr b="1" lang="fr-FR" sz="44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700000" y="1416600"/>
            <a:ext cx="4943160" cy="9234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720000" y="2150280"/>
            <a:ext cx="7740000" cy="29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pct_long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Les segments sont divisés en longs et courts selon la médiane de durée.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pct_fast :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Les segments rapides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pct_tech :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Mots techniques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Le corpus est majoritairement généraliste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BF0AB0-EBD7-4235-8F70-1E3A19CAC48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MarianMT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20000" y="1252800"/>
            <a:ext cx="7740000" cy="324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Développé par Microsoft Translator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Traduction neuronale efficace et optimisée :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 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Basé sur Transformer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Souvent un modèle par paire de langues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Optimisé pour la vitesse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Léger comparé à NLLB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Avantages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Rapide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Stable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Moins gourmand en ressources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040000" y="2160000"/>
            <a:ext cx="7740000" cy="27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Inconvénients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Moins adapté aux langues rares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Moins massif que NLLB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1F454-A043-487D-99ED-2059471E17E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NLLB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20000" y="1253880"/>
            <a:ext cx="7740000" cy="324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No Language Left Behind : Développé par Meta (Facebook AI)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Traduire un très grand nombre de langues, y compris les langues rares :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 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Multilingue massif (200+ langues)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Modèle Transformer très grand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Entraîné pour généraliser à beaucoup de langues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Un seul modèle pour toutes les langues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Avantages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Très robuste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Bonne généralisation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Performant sur langues peu représentées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040000" y="2305080"/>
            <a:ext cx="7740000" cy="27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Inconvénients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2000" spc="-1" strike="noStrike">
                <a:latin typeface="Arial"/>
              </a:rPr>
              <a:t>	</a:t>
            </a:r>
            <a:r>
              <a:rPr b="0" lang="fr-FR" sz="2000" spc="-1" strike="noStrike">
                <a:latin typeface="Arial"/>
              </a:rPr>
              <a:t>- </a:t>
            </a:r>
            <a:r>
              <a:rPr b="0" lang="fr-FR" sz="1500" spc="-1" strike="noStrike">
                <a:latin typeface="Arial"/>
              </a:rPr>
              <a:t>Très lourd</a:t>
            </a:r>
            <a:endParaRPr b="0" lang="fr-FR" sz="1500" spc="-1" strike="noStrike">
              <a:latin typeface="Arial"/>
            </a:endParaRPr>
          </a:p>
          <a:p>
            <a:r>
              <a:rPr b="0" lang="fr-FR" sz="2000" spc="-1" strike="noStrike">
                <a:latin typeface="Arial"/>
              </a:rPr>
              <a:t>	</a:t>
            </a:r>
            <a:r>
              <a:rPr b="0" lang="fr-FR" sz="2000" spc="-1" strike="noStrike">
                <a:latin typeface="Arial"/>
              </a:rPr>
              <a:t>- </a:t>
            </a:r>
            <a:r>
              <a:rPr b="0" lang="fr-FR" sz="1500" spc="-1" strike="noStrike">
                <a:latin typeface="Arial"/>
              </a:rPr>
              <a:t>Plus lent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CA9B63-C145-4804-99D9-A953BC762DDF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LLM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20000" y="1359720"/>
            <a:ext cx="7740000" cy="303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Ollama modèle : Gemma3:32b ( Meta )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Modèle d’agent Large Language Model :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 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Modèle Transformer très grand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Entraîné pour généraliser à beaucoup de langues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Un seul modèle pour toutes les langues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Avantages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Très puissant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Bonne «compréhension »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400000" y="2160000"/>
            <a:ext cx="7740000" cy="27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Inconvénients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2000" spc="-1" strike="noStrike">
                <a:latin typeface="Arial"/>
              </a:rPr>
              <a:t>	</a:t>
            </a:r>
            <a:r>
              <a:rPr b="0" lang="fr-FR" sz="2000" spc="-1" strike="noStrike">
                <a:latin typeface="Arial"/>
              </a:rPr>
              <a:t>- </a:t>
            </a:r>
            <a:r>
              <a:rPr b="0" lang="fr-FR" sz="1500" spc="-1" strike="noStrike">
                <a:latin typeface="Arial"/>
              </a:rPr>
              <a:t>Très lourd</a:t>
            </a:r>
            <a:endParaRPr b="0" lang="fr-FR" sz="1500" spc="-1" strike="noStrike">
              <a:latin typeface="Arial"/>
            </a:endParaRPr>
          </a:p>
          <a:p>
            <a:r>
              <a:rPr b="0" lang="fr-FR" sz="2000" spc="-1" strike="noStrike">
                <a:latin typeface="Arial"/>
              </a:rPr>
              <a:t>	</a:t>
            </a:r>
            <a:r>
              <a:rPr b="0" lang="fr-FR" sz="2000" spc="-1" strike="noStrike">
                <a:latin typeface="Arial"/>
              </a:rPr>
              <a:t>- </a:t>
            </a:r>
            <a:r>
              <a:rPr b="0" lang="fr-FR" sz="1500" spc="-1" strike="noStrike">
                <a:latin typeface="Arial"/>
              </a:rPr>
              <a:t>Énorme inférence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C27810-CC2B-4139-B3D7-27C73A66CF6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LSTM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20000" y="1465560"/>
            <a:ext cx="7740000" cy="282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Réseau de neurones récurrent ( RNN )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Long Short Term Memory :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 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Possède une mémoire de travail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Gestions via des « portes »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Avantages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Très bon si il y a une notion de temps / séquence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Facile à entraîner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580000" y="2160000"/>
            <a:ext cx="7740000" cy="27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1" lang="fr-FR" sz="1500" spc="-1" strike="noStrike">
                <a:latin typeface="Arial"/>
              </a:rPr>
              <a:t>Inconvénients : 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2000" spc="-1" strike="noStrike">
                <a:latin typeface="Arial"/>
              </a:rPr>
              <a:t>	</a:t>
            </a:r>
            <a:r>
              <a:rPr b="0" lang="fr-FR" sz="1500" spc="-1" strike="noStrike">
                <a:latin typeface="Arial"/>
              </a:rPr>
              <a:t>- Traite une donnés par données lors de </a:t>
            </a:r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l’entraînement ( contrairmement aux Transformers )</a:t>
            </a:r>
            <a:endParaRPr b="0" lang="fr-FR" sz="1500" spc="-1" strike="noStrike">
              <a:latin typeface="Arial"/>
            </a:endParaRPr>
          </a:p>
          <a:p>
            <a:endParaRPr b="0" lang="fr-FR" sz="20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5F9FFB-D927-4A95-8D88-BF4EAD8E13CE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Résultats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72000" y="144000"/>
            <a:ext cx="9000000" cy="27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000" spc="-1" strike="noStrike">
              <a:latin typeface="Arial"/>
            </a:endParaRPr>
          </a:p>
          <a:p>
            <a:r>
              <a:rPr b="1" lang="fr-FR" sz="1000" spc="-1" strike="noStrike">
                <a:latin typeface="Arial"/>
              </a:rPr>
              <a:t>BLEU (Bilingual Evaluation Understudy) :</a:t>
            </a:r>
            <a:r>
              <a:rPr b="0" lang="fr-FR" sz="1000" spc="-1" strike="noStrike">
                <a:latin typeface="Arial"/>
              </a:rPr>
              <a:t> Il compare les n-grammes (groupes de mots : unigrammes, bigrammes, trigrammes, etc.).</a:t>
            </a:r>
            <a:endParaRPr b="0" lang="fr-FR" sz="1000" spc="-1" strike="noStrike">
              <a:latin typeface="Arial"/>
            </a:endParaRPr>
          </a:p>
          <a:p>
            <a:endParaRPr b="0" lang="fr-FR" sz="1000" spc="-1" strike="noStrike">
              <a:latin typeface="Arial"/>
            </a:endParaRPr>
          </a:p>
          <a:p>
            <a:r>
              <a:rPr b="1" lang="fr-FR" sz="1000" spc="-1" strike="noStrike">
                <a:latin typeface="Arial"/>
              </a:rPr>
              <a:t>chrF (Character F-score) :</a:t>
            </a:r>
            <a:r>
              <a:rPr b="0" lang="fr-FR" sz="1000" spc="-1" strike="noStrike">
                <a:latin typeface="Arial"/>
              </a:rPr>
              <a:t> métrique d’évaluation basée sur les caractères plutôt que sur les mots.</a:t>
            </a:r>
            <a:endParaRPr b="0" lang="fr-FR" sz="1000" spc="-1" strike="noStrike"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440360" y="2052000"/>
            <a:ext cx="7379640" cy="3143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1E265E-7ABA-4C15-B86F-D372BF40524A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Résultats</a:t>
            </a:r>
            <a:endParaRPr b="1" lang="fr-FR" sz="4400" spc="-1" strike="noStrike"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620000" y="1168920"/>
            <a:ext cx="7020000" cy="3691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AF2906-FD85-40E2-BDAA-4965364359F7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Bench</a:t>
            </a:r>
            <a:endParaRPr b="1" lang="fr-FR" sz="4400" spc="-1" strike="noStrike"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1620000" y="968400"/>
            <a:ext cx="6704640" cy="41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50C10B-4533-473F-B733-72CCC7907C5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Pipline</a:t>
            </a:r>
            <a:endParaRPr b="1" lang="fr-FR" sz="4400" spc="-1" strike="noStrike">
              <a:latin typeface="Arial"/>
            </a:endParaRPr>
          </a:p>
        </p:txBody>
      </p:sp>
      <p:pic>
        <p:nvPicPr>
          <p:cNvPr id="77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80000" y="1260000"/>
            <a:ext cx="6400080" cy="3600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01EF1-B9C2-416E-9DF8-649E9B2E38C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fr-FR" sz="4400" spc="-1" strike="noStrike">
                <a:latin typeface="Arial"/>
              </a:rPr>
              <a:t>Conclusion</a:t>
            </a:r>
            <a:endParaRPr b="1" lang="fr-FR" sz="44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260000" y="1540440"/>
            <a:ext cx="7740000" cy="27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20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L’attention des transformers &gt; LSTM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  <a:p>
            <a:r>
              <a:rPr b="0" lang="fr-FR" sz="1500" spc="-1" strike="noStrike">
                <a:latin typeface="Arial"/>
              </a:rPr>
              <a:t>LLM sont meilleures mais avec trop pref demandé</a:t>
            </a:r>
            <a:endParaRPr b="0" lang="fr-FR" sz="1500" spc="-1" strike="noStrike">
              <a:latin typeface="Arial"/>
            </a:endParaRPr>
          </a:p>
          <a:p>
            <a:endParaRPr b="0" lang="fr-FR" sz="15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Projet de Traduction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E253D0-FC0A-475D-9A54-25FC5A16A2F3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2026-03-01T22:58:30Z</dcterms:created>
  <dc:creator/>
  <dc:description/>
  <dc:language>fr-FR</dc:language>
  <cp:lastModifiedBy/>
  <dcterms:modified xsi:type="dcterms:W3CDTF">2026-03-01T23:50:59Z</dcterms:modified>
  <cp:revision>47</cp:revision>
  <dc:subject/>
  <dc:title/>
</cp:coreProperties>
</file>